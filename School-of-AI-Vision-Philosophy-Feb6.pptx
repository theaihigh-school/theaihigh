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5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70" r:id="rId6"/>
    <p:sldId id="271" r:id="rId7"/>
    <p:sldId id="260" r:id="rId8"/>
    <p:sldId id="263" r:id="rId9"/>
    <p:sldId id="266" r:id="rId10"/>
    <p:sldId id="269" r:id="rId11"/>
    <p:sldId id="2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047123-B7DB-7946-B8F5-9DE5051C82CF}" v="1" dt="2026-02-14T00:42:27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52"/>
    <p:restoredTop sz="94641"/>
  </p:normalViewPr>
  <p:slideViewPr>
    <p:cSldViewPr snapToGrid="0">
      <p:cViewPr varScale="1">
        <p:scale>
          <a:sx n="81" d="100"/>
          <a:sy n="81" d="100"/>
        </p:scale>
        <p:origin x="200" y="1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19A32B-5AAF-4C44-AEA4-FFA4FACAFB03}" type="doc">
      <dgm:prSet loTypeId="urn:microsoft.com/office/officeart/2005/8/layout/arrow2" loCatId="" qsTypeId="urn:microsoft.com/office/officeart/2005/8/quickstyle/simple1" qsCatId="simple" csTypeId="urn:microsoft.com/office/officeart/2005/8/colors/accent1_2" csCatId="accent1" phldr="1"/>
      <dgm:spPr/>
    </dgm:pt>
    <dgm:pt modelId="{946EF590-827A-7E4E-8CB9-770AC36BBE91}">
      <dgm:prSet phldrT="[Text]" custT="1"/>
      <dgm:spPr/>
      <dgm:t>
        <a:bodyPr/>
        <a:lstStyle/>
        <a:p>
          <a:r>
            <a:rPr lang="en-US" sz="2000" dirty="0"/>
            <a:t>Mathematics</a:t>
          </a:r>
        </a:p>
      </dgm:t>
    </dgm:pt>
    <dgm:pt modelId="{AC058C77-077A-034D-B73D-59735F37A155}" type="parTrans" cxnId="{F3752CDF-7CAF-904D-AE06-AA0E898436A2}">
      <dgm:prSet/>
      <dgm:spPr/>
      <dgm:t>
        <a:bodyPr/>
        <a:lstStyle/>
        <a:p>
          <a:endParaRPr lang="en-US" sz="800"/>
        </a:p>
      </dgm:t>
    </dgm:pt>
    <dgm:pt modelId="{74DC6958-EF18-6643-A1AC-F9D7FF30CDAC}" type="sibTrans" cxnId="{F3752CDF-7CAF-904D-AE06-AA0E898436A2}">
      <dgm:prSet/>
      <dgm:spPr/>
      <dgm:t>
        <a:bodyPr/>
        <a:lstStyle/>
        <a:p>
          <a:endParaRPr lang="en-US" sz="800"/>
        </a:p>
      </dgm:t>
    </dgm:pt>
    <dgm:pt modelId="{5E543478-8B9A-5848-A678-F85EB5CB56E0}">
      <dgm:prSet phldrT="[Text]" custT="1"/>
      <dgm:spPr/>
      <dgm:t>
        <a:bodyPr/>
        <a:lstStyle/>
        <a:p>
          <a:r>
            <a:rPr lang="en-US" sz="1800" dirty="0"/>
            <a:t>Neural Networks</a:t>
          </a:r>
        </a:p>
      </dgm:t>
    </dgm:pt>
    <dgm:pt modelId="{B6363ADE-12D0-E841-BA47-1EDD479E08D4}" type="parTrans" cxnId="{F8EFB921-1F7A-F243-A939-6A75A323078B}">
      <dgm:prSet/>
      <dgm:spPr/>
      <dgm:t>
        <a:bodyPr/>
        <a:lstStyle/>
        <a:p>
          <a:endParaRPr lang="en-US" sz="800"/>
        </a:p>
      </dgm:t>
    </dgm:pt>
    <dgm:pt modelId="{D5D3310F-E403-6843-BC86-F69D98FE462A}" type="sibTrans" cxnId="{F8EFB921-1F7A-F243-A939-6A75A323078B}">
      <dgm:prSet/>
      <dgm:spPr/>
      <dgm:t>
        <a:bodyPr/>
        <a:lstStyle/>
        <a:p>
          <a:endParaRPr lang="en-US" sz="800"/>
        </a:p>
      </dgm:t>
    </dgm:pt>
    <dgm:pt modelId="{5BFEC9F3-5C40-AD46-A0D9-5BA99F2BC91A}">
      <dgm:prSet phldrT="[Text]" custT="1"/>
      <dgm:spPr/>
      <dgm:t>
        <a:bodyPr/>
        <a:lstStyle/>
        <a:p>
          <a:r>
            <a:rPr lang="en-US" sz="1800" dirty="0"/>
            <a:t>Agents</a:t>
          </a:r>
        </a:p>
      </dgm:t>
    </dgm:pt>
    <dgm:pt modelId="{30EA343D-6DEB-7749-97AB-D69D5DEF668D}" type="parTrans" cxnId="{3C59E7BD-52A0-DB4B-8207-A820D5232234}">
      <dgm:prSet/>
      <dgm:spPr/>
      <dgm:t>
        <a:bodyPr/>
        <a:lstStyle/>
        <a:p>
          <a:endParaRPr lang="en-US" sz="800"/>
        </a:p>
      </dgm:t>
    </dgm:pt>
    <dgm:pt modelId="{407BD380-03BE-EC41-8F07-13FFAFCB82E7}" type="sibTrans" cxnId="{3C59E7BD-52A0-DB4B-8207-A820D5232234}">
      <dgm:prSet/>
      <dgm:spPr/>
      <dgm:t>
        <a:bodyPr/>
        <a:lstStyle/>
        <a:p>
          <a:endParaRPr lang="en-US" sz="800"/>
        </a:p>
      </dgm:t>
    </dgm:pt>
    <dgm:pt modelId="{324189A5-C099-714D-AE1B-6BCD3A4A8EFB}" type="pres">
      <dgm:prSet presAssocID="{1219A32B-5AAF-4C44-AEA4-FFA4FACAFB03}" presName="arrowDiagram" presStyleCnt="0">
        <dgm:presLayoutVars>
          <dgm:chMax val="5"/>
          <dgm:dir/>
          <dgm:resizeHandles val="exact"/>
        </dgm:presLayoutVars>
      </dgm:prSet>
      <dgm:spPr/>
    </dgm:pt>
    <dgm:pt modelId="{D22B98CC-564F-034E-8D4B-A37D79188A40}" type="pres">
      <dgm:prSet presAssocID="{1219A32B-5AAF-4C44-AEA4-FFA4FACAFB03}" presName="arrow" presStyleLbl="bgShp" presStyleIdx="0" presStyleCnt="1"/>
      <dgm:spPr/>
    </dgm:pt>
    <dgm:pt modelId="{F267BF65-DE64-E049-89DA-76F874985AE3}" type="pres">
      <dgm:prSet presAssocID="{1219A32B-5AAF-4C44-AEA4-FFA4FACAFB03}" presName="arrowDiagram3" presStyleCnt="0"/>
      <dgm:spPr/>
    </dgm:pt>
    <dgm:pt modelId="{FC35ADFD-835E-C64B-8F14-86EB0A3CF0EC}" type="pres">
      <dgm:prSet presAssocID="{946EF590-827A-7E4E-8CB9-770AC36BBE91}" presName="bullet3a" presStyleLbl="node1" presStyleIdx="0" presStyleCnt="3"/>
      <dgm:spPr/>
    </dgm:pt>
    <dgm:pt modelId="{92F3DF0C-0F08-6B49-A875-6E4B41CC81BF}" type="pres">
      <dgm:prSet presAssocID="{946EF590-827A-7E4E-8CB9-770AC36BBE91}" presName="textBox3a" presStyleLbl="revTx" presStyleIdx="0" presStyleCnt="3">
        <dgm:presLayoutVars>
          <dgm:bulletEnabled val="1"/>
        </dgm:presLayoutVars>
      </dgm:prSet>
      <dgm:spPr/>
    </dgm:pt>
    <dgm:pt modelId="{E7782ABF-DA9D-B946-8B0D-E8331EEC61CD}" type="pres">
      <dgm:prSet presAssocID="{5E543478-8B9A-5848-A678-F85EB5CB56E0}" presName="bullet3b" presStyleLbl="node1" presStyleIdx="1" presStyleCnt="3"/>
      <dgm:spPr/>
    </dgm:pt>
    <dgm:pt modelId="{99D4AE0B-1EEF-424A-BF62-965392C98DD8}" type="pres">
      <dgm:prSet presAssocID="{5E543478-8B9A-5848-A678-F85EB5CB56E0}" presName="textBox3b" presStyleLbl="revTx" presStyleIdx="1" presStyleCnt="3">
        <dgm:presLayoutVars>
          <dgm:bulletEnabled val="1"/>
        </dgm:presLayoutVars>
      </dgm:prSet>
      <dgm:spPr/>
    </dgm:pt>
    <dgm:pt modelId="{7F680428-CFE3-534C-898C-2292137175D0}" type="pres">
      <dgm:prSet presAssocID="{5BFEC9F3-5C40-AD46-A0D9-5BA99F2BC91A}" presName="bullet3c" presStyleLbl="node1" presStyleIdx="2" presStyleCnt="3"/>
      <dgm:spPr/>
    </dgm:pt>
    <dgm:pt modelId="{1EC14729-D906-A540-B093-A10F6C1D736C}" type="pres">
      <dgm:prSet presAssocID="{5BFEC9F3-5C40-AD46-A0D9-5BA99F2BC91A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E0A18C18-3580-0243-AF22-2736F0DEE4C7}" type="presOf" srcId="{946EF590-827A-7E4E-8CB9-770AC36BBE91}" destId="{92F3DF0C-0F08-6B49-A875-6E4B41CC81BF}" srcOrd="0" destOrd="0" presId="urn:microsoft.com/office/officeart/2005/8/layout/arrow2"/>
    <dgm:cxn modelId="{F8EFB921-1F7A-F243-A939-6A75A323078B}" srcId="{1219A32B-5AAF-4C44-AEA4-FFA4FACAFB03}" destId="{5E543478-8B9A-5848-A678-F85EB5CB56E0}" srcOrd="1" destOrd="0" parTransId="{B6363ADE-12D0-E841-BA47-1EDD479E08D4}" sibTransId="{D5D3310F-E403-6843-BC86-F69D98FE462A}"/>
    <dgm:cxn modelId="{B076026B-855F-7A49-BE6C-FA82730BDBAE}" type="presOf" srcId="{5BFEC9F3-5C40-AD46-A0D9-5BA99F2BC91A}" destId="{1EC14729-D906-A540-B093-A10F6C1D736C}" srcOrd="0" destOrd="0" presId="urn:microsoft.com/office/officeart/2005/8/layout/arrow2"/>
    <dgm:cxn modelId="{887E6576-927C-9F42-9195-6D81ADB0EBE7}" type="presOf" srcId="{1219A32B-5AAF-4C44-AEA4-FFA4FACAFB03}" destId="{324189A5-C099-714D-AE1B-6BCD3A4A8EFB}" srcOrd="0" destOrd="0" presId="urn:microsoft.com/office/officeart/2005/8/layout/arrow2"/>
    <dgm:cxn modelId="{3C59E7BD-52A0-DB4B-8207-A820D5232234}" srcId="{1219A32B-5AAF-4C44-AEA4-FFA4FACAFB03}" destId="{5BFEC9F3-5C40-AD46-A0D9-5BA99F2BC91A}" srcOrd="2" destOrd="0" parTransId="{30EA343D-6DEB-7749-97AB-D69D5DEF668D}" sibTransId="{407BD380-03BE-EC41-8F07-13FFAFCB82E7}"/>
    <dgm:cxn modelId="{F3752CDF-7CAF-904D-AE06-AA0E898436A2}" srcId="{1219A32B-5AAF-4C44-AEA4-FFA4FACAFB03}" destId="{946EF590-827A-7E4E-8CB9-770AC36BBE91}" srcOrd="0" destOrd="0" parTransId="{AC058C77-077A-034D-B73D-59735F37A155}" sibTransId="{74DC6958-EF18-6643-A1AC-F9D7FF30CDAC}"/>
    <dgm:cxn modelId="{AE37AFEC-C4A0-8349-9687-0C1598130DFF}" type="presOf" srcId="{5E543478-8B9A-5848-A678-F85EB5CB56E0}" destId="{99D4AE0B-1EEF-424A-BF62-965392C98DD8}" srcOrd="0" destOrd="0" presId="urn:microsoft.com/office/officeart/2005/8/layout/arrow2"/>
    <dgm:cxn modelId="{2806B409-E167-6B4D-BC71-21E5A83E1C2A}" type="presParOf" srcId="{324189A5-C099-714D-AE1B-6BCD3A4A8EFB}" destId="{D22B98CC-564F-034E-8D4B-A37D79188A40}" srcOrd="0" destOrd="0" presId="urn:microsoft.com/office/officeart/2005/8/layout/arrow2"/>
    <dgm:cxn modelId="{85E0AA76-148C-D54D-8CD6-FA227B10D425}" type="presParOf" srcId="{324189A5-C099-714D-AE1B-6BCD3A4A8EFB}" destId="{F267BF65-DE64-E049-89DA-76F874985AE3}" srcOrd="1" destOrd="0" presId="urn:microsoft.com/office/officeart/2005/8/layout/arrow2"/>
    <dgm:cxn modelId="{B1932179-FE60-CE45-B88B-C894359E8BD3}" type="presParOf" srcId="{F267BF65-DE64-E049-89DA-76F874985AE3}" destId="{FC35ADFD-835E-C64B-8F14-86EB0A3CF0EC}" srcOrd="0" destOrd="0" presId="urn:microsoft.com/office/officeart/2005/8/layout/arrow2"/>
    <dgm:cxn modelId="{30FD1503-167E-CC40-8AC3-24FDBDB14EAA}" type="presParOf" srcId="{F267BF65-DE64-E049-89DA-76F874985AE3}" destId="{92F3DF0C-0F08-6B49-A875-6E4B41CC81BF}" srcOrd="1" destOrd="0" presId="urn:microsoft.com/office/officeart/2005/8/layout/arrow2"/>
    <dgm:cxn modelId="{01C1D02D-24EE-FF41-9FC2-D00451E6E5D3}" type="presParOf" srcId="{F267BF65-DE64-E049-89DA-76F874985AE3}" destId="{E7782ABF-DA9D-B946-8B0D-E8331EEC61CD}" srcOrd="2" destOrd="0" presId="urn:microsoft.com/office/officeart/2005/8/layout/arrow2"/>
    <dgm:cxn modelId="{837D9B1A-623C-FA4B-B6FA-749CF3F28A82}" type="presParOf" srcId="{F267BF65-DE64-E049-89DA-76F874985AE3}" destId="{99D4AE0B-1EEF-424A-BF62-965392C98DD8}" srcOrd="3" destOrd="0" presId="urn:microsoft.com/office/officeart/2005/8/layout/arrow2"/>
    <dgm:cxn modelId="{B938E368-3C79-BE46-B854-1BF82390AFF6}" type="presParOf" srcId="{F267BF65-DE64-E049-89DA-76F874985AE3}" destId="{7F680428-CFE3-534C-898C-2292137175D0}" srcOrd="4" destOrd="0" presId="urn:microsoft.com/office/officeart/2005/8/layout/arrow2"/>
    <dgm:cxn modelId="{778688D5-7362-B443-AABD-A7388D479FD4}" type="presParOf" srcId="{F267BF65-DE64-E049-89DA-76F874985AE3}" destId="{1EC14729-D906-A540-B093-A10F6C1D736C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19A32B-5AAF-4C44-AEA4-FFA4FACAFB03}" type="doc">
      <dgm:prSet loTypeId="urn:microsoft.com/office/officeart/2005/8/layout/arrow2" loCatId="" qsTypeId="urn:microsoft.com/office/officeart/2005/8/quickstyle/simple1" qsCatId="simple" csTypeId="urn:microsoft.com/office/officeart/2005/8/colors/accent1_2" csCatId="accent1" phldr="1"/>
      <dgm:spPr/>
    </dgm:pt>
    <dgm:pt modelId="{946EF590-827A-7E4E-8CB9-770AC36BBE91}">
      <dgm:prSet phldrT="[Text]" custT="1"/>
      <dgm:spPr/>
      <dgm:t>
        <a:bodyPr/>
        <a:lstStyle/>
        <a:p>
          <a:r>
            <a:rPr lang="en-US" sz="2000" dirty="0"/>
            <a:t>Data and Model</a:t>
          </a:r>
        </a:p>
      </dgm:t>
    </dgm:pt>
    <dgm:pt modelId="{AC058C77-077A-034D-B73D-59735F37A155}" type="parTrans" cxnId="{F3752CDF-7CAF-904D-AE06-AA0E898436A2}">
      <dgm:prSet/>
      <dgm:spPr/>
      <dgm:t>
        <a:bodyPr/>
        <a:lstStyle/>
        <a:p>
          <a:endParaRPr lang="en-US" sz="800"/>
        </a:p>
      </dgm:t>
    </dgm:pt>
    <dgm:pt modelId="{74DC6958-EF18-6643-A1AC-F9D7FF30CDAC}" type="sibTrans" cxnId="{F3752CDF-7CAF-904D-AE06-AA0E898436A2}">
      <dgm:prSet/>
      <dgm:spPr/>
      <dgm:t>
        <a:bodyPr/>
        <a:lstStyle/>
        <a:p>
          <a:endParaRPr lang="en-US" sz="800"/>
        </a:p>
      </dgm:t>
    </dgm:pt>
    <dgm:pt modelId="{5E543478-8B9A-5848-A678-F85EB5CB56E0}">
      <dgm:prSet phldrT="[Text]" custT="1"/>
      <dgm:spPr/>
      <dgm:t>
        <a:bodyPr/>
        <a:lstStyle/>
        <a:p>
          <a:r>
            <a:rPr lang="en-US" sz="1800" dirty="0"/>
            <a:t>App pipeline</a:t>
          </a:r>
        </a:p>
      </dgm:t>
    </dgm:pt>
    <dgm:pt modelId="{B6363ADE-12D0-E841-BA47-1EDD479E08D4}" type="parTrans" cxnId="{F8EFB921-1F7A-F243-A939-6A75A323078B}">
      <dgm:prSet/>
      <dgm:spPr/>
      <dgm:t>
        <a:bodyPr/>
        <a:lstStyle/>
        <a:p>
          <a:endParaRPr lang="en-US" sz="800"/>
        </a:p>
      </dgm:t>
    </dgm:pt>
    <dgm:pt modelId="{D5D3310F-E403-6843-BC86-F69D98FE462A}" type="sibTrans" cxnId="{F8EFB921-1F7A-F243-A939-6A75A323078B}">
      <dgm:prSet/>
      <dgm:spPr/>
      <dgm:t>
        <a:bodyPr/>
        <a:lstStyle/>
        <a:p>
          <a:endParaRPr lang="en-US" sz="800"/>
        </a:p>
      </dgm:t>
    </dgm:pt>
    <dgm:pt modelId="{5BFEC9F3-5C40-AD46-A0D9-5BA99F2BC91A}">
      <dgm:prSet phldrT="[Text]" custT="1"/>
      <dgm:spPr/>
      <dgm:t>
        <a:bodyPr/>
        <a:lstStyle/>
        <a:p>
          <a:r>
            <a:rPr lang="en-US" sz="1800" dirty="0"/>
            <a:t>Practical World Usage</a:t>
          </a:r>
        </a:p>
      </dgm:t>
    </dgm:pt>
    <dgm:pt modelId="{30EA343D-6DEB-7749-97AB-D69D5DEF668D}" type="parTrans" cxnId="{3C59E7BD-52A0-DB4B-8207-A820D5232234}">
      <dgm:prSet/>
      <dgm:spPr/>
      <dgm:t>
        <a:bodyPr/>
        <a:lstStyle/>
        <a:p>
          <a:endParaRPr lang="en-US" sz="800"/>
        </a:p>
      </dgm:t>
    </dgm:pt>
    <dgm:pt modelId="{407BD380-03BE-EC41-8F07-13FFAFCB82E7}" type="sibTrans" cxnId="{3C59E7BD-52A0-DB4B-8207-A820D5232234}">
      <dgm:prSet/>
      <dgm:spPr/>
      <dgm:t>
        <a:bodyPr/>
        <a:lstStyle/>
        <a:p>
          <a:endParaRPr lang="en-US" sz="800"/>
        </a:p>
      </dgm:t>
    </dgm:pt>
    <dgm:pt modelId="{324189A5-C099-714D-AE1B-6BCD3A4A8EFB}" type="pres">
      <dgm:prSet presAssocID="{1219A32B-5AAF-4C44-AEA4-FFA4FACAFB03}" presName="arrowDiagram" presStyleCnt="0">
        <dgm:presLayoutVars>
          <dgm:chMax val="5"/>
          <dgm:dir/>
          <dgm:resizeHandles val="exact"/>
        </dgm:presLayoutVars>
      </dgm:prSet>
      <dgm:spPr/>
    </dgm:pt>
    <dgm:pt modelId="{D22B98CC-564F-034E-8D4B-A37D79188A40}" type="pres">
      <dgm:prSet presAssocID="{1219A32B-5AAF-4C44-AEA4-FFA4FACAFB03}" presName="arrow" presStyleLbl="bgShp" presStyleIdx="0" presStyleCnt="1"/>
      <dgm:spPr/>
    </dgm:pt>
    <dgm:pt modelId="{F267BF65-DE64-E049-89DA-76F874985AE3}" type="pres">
      <dgm:prSet presAssocID="{1219A32B-5AAF-4C44-AEA4-FFA4FACAFB03}" presName="arrowDiagram3" presStyleCnt="0"/>
      <dgm:spPr/>
    </dgm:pt>
    <dgm:pt modelId="{FC35ADFD-835E-C64B-8F14-86EB0A3CF0EC}" type="pres">
      <dgm:prSet presAssocID="{946EF590-827A-7E4E-8CB9-770AC36BBE91}" presName="bullet3a" presStyleLbl="node1" presStyleIdx="0" presStyleCnt="3"/>
      <dgm:spPr/>
    </dgm:pt>
    <dgm:pt modelId="{92F3DF0C-0F08-6B49-A875-6E4B41CC81BF}" type="pres">
      <dgm:prSet presAssocID="{946EF590-827A-7E4E-8CB9-770AC36BBE91}" presName="textBox3a" presStyleLbl="revTx" presStyleIdx="0" presStyleCnt="3">
        <dgm:presLayoutVars>
          <dgm:bulletEnabled val="1"/>
        </dgm:presLayoutVars>
      </dgm:prSet>
      <dgm:spPr/>
    </dgm:pt>
    <dgm:pt modelId="{E7782ABF-DA9D-B946-8B0D-E8331EEC61CD}" type="pres">
      <dgm:prSet presAssocID="{5E543478-8B9A-5848-A678-F85EB5CB56E0}" presName="bullet3b" presStyleLbl="node1" presStyleIdx="1" presStyleCnt="3"/>
      <dgm:spPr/>
    </dgm:pt>
    <dgm:pt modelId="{99D4AE0B-1EEF-424A-BF62-965392C98DD8}" type="pres">
      <dgm:prSet presAssocID="{5E543478-8B9A-5848-A678-F85EB5CB56E0}" presName="textBox3b" presStyleLbl="revTx" presStyleIdx="1" presStyleCnt="3">
        <dgm:presLayoutVars>
          <dgm:bulletEnabled val="1"/>
        </dgm:presLayoutVars>
      </dgm:prSet>
      <dgm:spPr/>
    </dgm:pt>
    <dgm:pt modelId="{7F680428-CFE3-534C-898C-2292137175D0}" type="pres">
      <dgm:prSet presAssocID="{5BFEC9F3-5C40-AD46-A0D9-5BA99F2BC91A}" presName="bullet3c" presStyleLbl="node1" presStyleIdx="2" presStyleCnt="3"/>
      <dgm:spPr/>
    </dgm:pt>
    <dgm:pt modelId="{1EC14729-D906-A540-B093-A10F6C1D736C}" type="pres">
      <dgm:prSet presAssocID="{5BFEC9F3-5C40-AD46-A0D9-5BA99F2BC91A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E0A18C18-3580-0243-AF22-2736F0DEE4C7}" type="presOf" srcId="{946EF590-827A-7E4E-8CB9-770AC36BBE91}" destId="{92F3DF0C-0F08-6B49-A875-6E4B41CC81BF}" srcOrd="0" destOrd="0" presId="urn:microsoft.com/office/officeart/2005/8/layout/arrow2"/>
    <dgm:cxn modelId="{F8EFB921-1F7A-F243-A939-6A75A323078B}" srcId="{1219A32B-5AAF-4C44-AEA4-FFA4FACAFB03}" destId="{5E543478-8B9A-5848-A678-F85EB5CB56E0}" srcOrd="1" destOrd="0" parTransId="{B6363ADE-12D0-E841-BA47-1EDD479E08D4}" sibTransId="{D5D3310F-E403-6843-BC86-F69D98FE462A}"/>
    <dgm:cxn modelId="{B076026B-855F-7A49-BE6C-FA82730BDBAE}" type="presOf" srcId="{5BFEC9F3-5C40-AD46-A0D9-5BA99F2BC91A}" destId="{1EC14729-D906-A540-B093-A10F6C1D736C}" srcOrd="0" destOrd="0" presId="urn:microsoft.com/office/officeart/2005/8/layout/arrow2"/>
    <dgm:cxn modelId="{887E6576-927C-9F42-9195-6D81ADB0EBE7}" type="presOf" srcId="{1219A32B-5AAF-4C44-AEA4-FFA4FACAFB03}" destId="{324189A5-C099-714D-AE1B-6BCD3A4A8EFB}" srcOrd="0" destOrd="0" presId="urn:microsoft.com/office/officeart/2005/8/layout/arrow2"/>
    <dgm:cxn modelId="{3C59E7BD-52A0-DB4B-8207-A820D5232234}" srcId="{1219A32B-5AAF-4C44-AEA4-FFA4FACAFB03}" destId="{5BFEC9F3-5C40-AD46-A0D9-5BA99F2BC91A}" srcOrd="2" destOrd="0" parTransId="{30EA343D-6DEB-7749-97AB-D69D5DEF668D}" sibTransId="{407BD380-03BE-EC41-8F07-13FFAFCB82E7}"/>
    <dgm:cxn modelId="{F3752CDF-7CAF-904D-AE06-AA0E898436A2}" srcId="{1219A32B-5AAF-4C44-AEA4-FFA4FACAFB03}" destId="{946EF590-827A-7E4E-8CB9-770AC36BBE91}" srcOrd="0" destOrd="0" parTransId="{AC058C77-077A-034D-B73D-59735F37A155}" sibTransId="{74DC6958-EF18-6643-A1AC-F9D7FF30CDAC}"/>
    <dgm:cxn modelId="{AE37AFEC-C4A0-8349-9687-0C1598130DFF}" type="presOf" srcId="{5E543478-8B9A-5848-A678-F85EB5CB56E0}" destId="{99D4AE0B-1EEF-424A-BF62-965392C98DD8}" srcOrd="0" destOrd="0" presId="urn:microsoft.com/office/officeart/2005/8/layout/arrow2"/>
    <dgm:cxn modelId="{2806B409-E167-6B4D-BC71-21E5A83E1C2A}" type="presParOf" srcId="{324189A5-C099-714D-AE1B-6BCD3A4A8EFB}" destId="{D22B98CC-564F-034E-8D4B-A37D79188A40}" srcOrd="0" destOrd="0" presId="urn:microsoft.com/office/officeart/2005/8/layout/arrow2"/>
    <dgm:cxn modelId="{85E0AA76-148C-D54D-8CD6-FA227B10D425}" type="presParOf" srcId="{324189A5-C099-714D-AE1B-6BCD3A4A8EFB}" destId="{F267BF65-DE64-E049-89DA-76F874985AE3}" srcOrd="1" destOrd="0" presId="urn:microsoft.com/office/officeart/2005/8/layout/arrow2"/>
    <dgm:cxn modelId="{B1932179-FE60-CE45-B88B-C894359E8BD3}" type="presParOf" srcId="{F267BF65-DE64-E049-89DA-76F874985AE3}" destId="{FC35ADFD-835E-C64B-8F14-86EB0A3CF0EC}" srcOrd="0" destOrd="0" presId="urn:microsoft.com/office/officeart/2005/8/layout/arrow2"/>
    <dgm:cxn modelId="{30FD1503-167E-CC40-8AC3-24FDBDB14EAA}" type="presParOf" srcId="{F267BF65-DE64-E049-89DA-76F874985AE3}" destId="{92F3DF0C-0F08-6B49-A875-6E4B41CC81BF}" srcOrd="1" destOrd="0" presId="urn:microsoft.com/office/officeart/2005/8/layout/arrow2"/>
    <dgm:cxn modelId="{01C1D02D-24EE-FF41-9FC2-D00451E6E5D3}" type="presParOf" srcId="{F267BF65-DE64-E049-89DA-76F874985AE3}" destId="{E7782ABF-DA9D-B946-8B0D-E8331EEC61CD}" srcOrd="2" destOrd="0" presId="urn:microsoft.com/office/officeart/2005/8/layout/arrow2"/>
    <dgm:cxn modelId="{837D9B1A-623C-FA4B-B6FA-749CF3F28A82}" type="presParOf" srcId="{F267BF65-DE64-E049-89DA-76F874985AE3}" destId="{99D4AE0B-1EEF-424A-BF62-965392C98DD8}" srcOrd="3" destOrd="0" presId="urn:microsoft.com/office/officeart/2005/8/layout/arrow2"/>
    <dgm:cxn modelId="{B938E368-3C79-BE46-B854-1BF82390AFF6}" type="presParOf" srcId="{F267BF65-DE64-E049-89DA-76F874985AE3}" destId="{7F680428-CFE3-534C-898C-2292137175D0}" srcOrd="4" destOrd="0" presId="urn:microsoft.com/office/officeart/2005/8/layout/arrow2"/>
    <dgm:cxn modelId="{778688D5-7362-B443-AABD-A7388D479FD4}" type="presParOf" srcId="{F267BF65-DE64-E049-89DA-76F874985AE3}" destId="{1EC14729-D906-A540-B093-A10F6C1D736C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B98CC-564F-034E-8D4B-A37D79188A40}">
      <dsp:nvSpPr>
        <dsp:cNvPr id="0" name=""/>
        <dsp:cNvSpPr/>
      </dsp:nvSpPr>
      <dsp:spPr>
        <a:xfrm>
          <a:off x="0" y="106962"/>
          <a:ext cx="6586308" cy="4116442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5ADFD-835E-C64B-8F14-86EB0A3CF0EC}">
      <dsp:nvSpPr>
        <dsp:cNvPr id="0" name=""/>
        <dsp:cNvSpPr/>
      </dsp:nvSpPr>
      <dsp:spPr>
        <a:xfrm>
          <a:off x="836461" y="2948131"/>
          <a:ext cx="171244" cy="171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3DF0C-0F08-6B49-A875-6E4B41CC81BF}">
      <dsp:nvSpPr>
        <dsp:cNvPr id="0" name=""/>
        <dsp:cNvSpPr/>
      </dsp:nvSpPr>
      <dsp:spPr>
        <a:xfrm>
          <a:off x="922083" y="3033753"/>
          <a:ext cx="1534609" cy="1189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39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Mathematics</a:t>
          </a:r>
        </a:p>
      </dsp:txBody>
      <dsp:txXfrm>
        <a:off x="922083" y="3033753"/>
        <a:ext cx="1534609" cy="1189651"/>
      </dsp:txXfrm>
    </dsp:sp>
    <dsp:sp modelId="{E7782ABF-DA9D-B946-8B0D-E8331EEC61CD}">
      <dsp:nvSpPr>
        <dsp:cNvPr id="0" name=""/>
        <dsp:cNvSpPr/>
      </dsp:nvSpPr>
      <dsp:spPr>
        <a:xfrm>
          <a:off x="2348018" y="1829282"/>
          <a:ext cx="309556" cy="309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4AE0B-1EEF-424A-BF62-965392C98DD8}">
      <dsp:nvSpPr>
        <dsp:cNvPr id="0" name=""/>
        <dsp:cNvSpPr/>
      </dsp:nvSpPr>
      <dsp:spPr>
        <a:xfrm>
          <a:off x="2502797" y="1984060"/>
          <a:ext cx="1580713" cy="2239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028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Neural Networks</a:t>
          </a:r>
        </a:p>
      </dsp:txBody>
      <dsp:txXfrm>
        <a:off x="2502797" y="1984060"/>
        <a:ext cx="1580713" cy="2239344"/>
      </dsp:txXfrm>
    </dsp:sp>
    <dsp:sp modelId="{7F680428-CFE3-534C-898C-2292137175D0}">
      <dsp:nvSpPr>
        <dsp:cNvPr id="0" name=""/>
        <dsp:cNvSpPr/>
      </dsp:nvSpPr>
      <dsp:spPr>
        <a:xfrm>
          <a:off x="4165839" y="1148422"/>
          <a:ext cx="428110" cy="4281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14729-D906-A540-B093-A10F6C1D736C}">
      <dsp:nvSpPr>
        <dsp:cNvPr id="0" name=""/>
        <dsp:cNvSpPr/>
      </dsp:nvSpPr>
      <dsp:spPr>
        <a:xfrm>
          <a:off x="4379894" y="1362477"/>
          <a:ext cx="1580713" cy="2860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847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Agents</a:t>
          </a:r>
        </a:p>
      </dsp:txBody>
      <dsp:txXfrm>
        <a:off x="4379894" y="1362477"/>
        <a:ext cx="1580713" cy="28609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B98CC-564F-034E-8D4B-A37D79188A40}">
      <dsp:nvSpPr>
        <dsp:cNvPr id="0" name=""/>
        <dsp:cNvSpPr/>
      </dsp:nvSpPr>
      <dsp:spPr>
        <a:xfrm>
          <a:off x="0" y="106962"/>
          <a:ext cx="6586308" cy="4116442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5ADFD-835E-C64B-8F14-86EB0A3CF0EC}">
      <dsp:nvSpPr>
        <dsp:cNvPr id="0" name=""/>
        <dsp:cNvSpPr/>
      </dsp:nvSpPr>
      <dsp:spPr>
        <a:xfrm>
          <a:off x="836461" y="2948131"/>
          <a:ext cx="171244" cy="171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3DF0C-0F08-6B49-A875-6E4B41CC81BF}">
      <dsp:nvSpPr>
        <dsp:cNvPr id="0" name=""/>
        <dsp:cNvSpPr/>
      </dsp:nvSpPr>
      <dsp:spPr>
        <a:xfrm>
          <a:off x="922083" y="3033753"/>
          <a:ext cx="1534609" cy="1189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39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and Model</a:t>
          </a:r>
        </a:p>
      </dsp:txBody>
      <dsp:txXfrm>
        <a:off x="922083" y="3033753"/>
        <a:ext cx="1534609" cy="1189651"/>
      </dsp:txXfrm>
    </dsp:sp>
    <dsp:sp modelId="{E7782ABF-DA9D-B946-8B0D-E8331EEC61CD}">
      <dsp:nvSpPr>
        <dsp:cNvPr id="0" name=""/>
        <dsp:cNvSpPr/>
      </dsp:nvSpPr>
      <dsp:spPr>
        <a:xfrm>
          <a:off x="2348018" y="1829282"/>
          <a:ext cx="309556" cy="309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4AE0B-1EEF-424A-BF62-965392C98DD8}">
      <dsp:nvSpPr>
        <dsp:cNvPr id="0" name=""/>
        <dsp:cNvSpPr/>
      </dsp:nvSpPr>
      <dsp:spPr>
        <a:xfrm>
          <a:off x="2502797" y="1984060"/>
          <a:ext cx="1580713" cy="2239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028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App pipeline</a:t>
          </a:r>
        </a:p>
      </dsp:txBody>
      <dsp:txXfrm>
        <a:off x="2502797" y="1984060"/>
        <a:ext cx="1580713" cy="2239344"/>
      </dsp:txXfrm>
    </dsp:sp>
    <dsp:sp modelId="{7F680428-CFE3-534C-898C-2292137175D0}">
      <dsp:nvSpPr>
        <dsp:cNvPr id="0" name=""/>
        <dsp:cNvSpPr/>
      </dsp:nvSpPr>
      <dsp:spPr>
        <a:xfrm>
          <a:off x="4165839" y="1148422"/>
          <a:ext cx="428110" cy="4281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14729-D906-A540-B093-A10F6C1D736C}">
      <dsp:nvSpPr>
        <dsp:cNvPr id="0" name=""/>
        <dsp:cNvSpPr/>
      </dsp:nvSpPr>
      <dsp:spPr>
        <a:xfrm>
          <a:off x="4379894" y="1362477"/>
          <a:ext cx="1580713" cy="2860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847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Practical World Usage</a:t>
          </a:r>
        </a:p>
      </dsp:txBody>
      <dsp:txXfrm>
        <a:off x="4379894" y="1362477"/>
        <a:ext cx="1580713" cy="28609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C9ED5-141F-9F4A-973C-5DC643B68E8F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CF79C-27E8-8A4B-81A9-1A3D352B6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67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68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40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83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94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48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3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860962"/>
            <a:ext cx="11155680" cy="9342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22049"/>
            <a:ext cx="1115568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36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3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4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9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5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79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2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67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39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03" y="846673"/>
            <a:ext cx="11155680" cy="8602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403" y="1898592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98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74" r:id="rId6"/>
    <p:sldLayoutId id="2147483769" r:id="rId7"/>
    <p:sldLayoutId id="2147483770" r:id="rId8"/>
    <p:sldLayoutId id="2147483771" r:id="rId9"/>
    <p:sldLayoutId id="2147483773" r:id="rId10"/>
    <p:sldLayoutId id="21474837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F74CAF74-2415-4D2C-3817-9A16A9B56A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592" b="111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E737A-586D-26BC-5ECB-5B2B432F7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9897" y="250563"/>
            <a:ext cx="8196431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en-US" sz="4400" dirty="0"/>
              <a:t>The AI High – School of innovation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5E10E-1C7F-E586-AEDF-46CF040812CF}"/>
              </a:ext>
            </a:extLst>
          </p:cNvPr>
          <p:cNvSpPr txBox="1"/>
          <p:nvPr/>
        </p:nvSpPr>
        <p:spPr>
          <a:xfrm>
            <a:off x="7367720" y="6145772"/>
            <a:ext cx="4519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Brochure of classes – 2025/2026</a:t>
            </a:r>
          </a:p>
        </p:txBody>
      </p:sp>
    </p:spTree>
    <p:extLst>
      <p:ext uri="{BB962C8B-B14F-4D97-AF65-F5344CB8AC3E}">
        <p14:creationId xmlns:p14="http://schemas.microsoft.com/office/powerpoint/2010/main" val="2890144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Complex math formulas on a blackboard">
            <a:extLst>
              <a:ext uri="{FF2B5EF4-FFF2-40B4-BE49-F238E27FC236}">
                <a16:creationId xmlns:a16="http://schemas.microsoft.com/office/drawing/2014/main" id="{1E22BC5A-4CAB-3D12-496C-FC3E3806948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19104" b="3841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BD8DE6-9A88-9E21-4AD8-23F7203D5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13338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Our Vision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E27A9-E7BE-287B-70DB-FD33138D5F89}"/>
              </a:ext>
            </a:extLst>
          </p:cNvPr>
          <p:cNvSpPr txBox="1"/>
          <p:nvPr/>
        </p:nvSpPr>
        <p:spPr>
          <a:xfrm>
            <a:off x="666346" y="3345396"/>
            <a:ext cx="108562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Empower high school students with the skills, knowledge, and critical thinking to thrive in AI driven future</a:t>
            </a:r>
          </a:p>
        </p:txBody>
      </p:sp>
    </p:spTree>
    <p:extLst>
      <p:ext uri="{BB962C8B-B14F-4D97-AF65-F5344CB8AC3E}">
        <p14:creationId xmlns:p14="http://schemas.microsoft.com/office/powerpoint/2010/main" val="3112205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03ED-5FA9-DB38-373A-51388308A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 the future (when high-schoolers graduate)….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FDB49-ABC0-2044-FCAB-EADAF41AB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22048"/>
            <a:ext cx="11155680" cy="440359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AI will perform many tasks done by humans</a:t>
            </a:r>
          </a:p>
          <a:p>
            <a:pPr lvl="1"/>
            <a:r>
              <a:rPr lang="en-US" dirty="0"/>
              <a:t>Coding, drive-in order taking, surveillance, surgeries, agriculture, customer support…..</a:t>
            </a:r>
          </a:p>
          <a:p>
            <a:r>
              <a:rPr lang="en-US" dirty="0"/>
              <a:t>Humans will perform tasks that AI technology can not do</a:t>
            </a:r>
          </a:p>
          <a:p>
            <a:pPr lvl="1"/>
            <a:r>
              <a:rPr lang="en-US" dirty="0"/>
              <a:t>Manually prepare data</a:t>
            </a:r>
          </a:p>
          <a:p>
            <a:pPr lvl="1"/>
            <a:r>
              <a:rPr lang="en-US" dirty="0"/>
              <a:t>Build and optimize AI models</a:t>
            </a:r>
          </a:p>
          <a:p>
            <a:pPr lvl="1"/>
            <a:r>
              <a:rPr lang="en-US" dirty="0"/>
              <a:t>Manage product development</a:t>
            </a:r>
          </a:p>
          <a:p>
            <a:pPr lvl="1"/>
            <a:r>
              <a:rPr lang="en-US" dirty="0"/>
              <a:t>Test end-to-end app and user experience</a:t>
            </a:r>
          </a:p>
          <a:p>
            <a:pPr lvl="1"/>
            <a:r>
              <a:rPr lang="en-US" dirty="0"/>
              <a:t>Sales 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b="1" dirty="0"/>
              <a:t>The goal of the classes is to enable students for their future</a:t>
            </a:r>
          </a:p>
          <a:p>
            <a:pPr lvl="1"/>
            <a:r>
              <a:rPr lang="en-US" dirty="0"/>
              <a:t>Hidden aspects of AI that are not taught in other places</a:t>
            </a:r>
          </a:p>
          <a:p>
            <a:pPr lvl="1"/>
            <a:r>
              <a:rPr lang="en-US" dirty="0"/>
              <a:t>Enable thinking as to how I best leverage the tools available to us</a:t>
            </a:r>
          </a:p>
          <a:p>
            <a:pPr lvl="1"/>
            <a:r>
              <a:rPr lang="en-US" dirty="0"/>
              <a:t>Use AI to solving “real-world” problems</a:t>
            </a:r>
          </a:p>
          <a:p>
            <a:pPr lvl="1"/>
            <a:r>
              <a:rPr lang="en-US" dirty="0"/>
              <a:t>Become aware of industry practices and tools</a:t>
            </a:r>
          </a:p>
          <a:p>
            <a:r>
              <a:rPr lang="en-US" b="1" dirty="0"/>
              <a:t>Use AI project portfolio for college admissions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738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10674-7305-394F-DEE7-44D55718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31567"/>
            <a:ext cx="11155680" cy="1463040"/>
          </a:xfrm>
        </p:spPr>
        <p:txBody>
          <a:bodyPr/>
          <a:lstStyle/>
          <a:p>
            <a:r>
              <a:rPr lang="en-US" dirty="0"/>
              <a:t>General philosophy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5E4707D-80E1-0202-A181-BA1328E57F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4004162"/>
              </p:ext>
            </p:extLst>
          </p:nvPr>
        </p:nvGraphicFramePr>
        <p:xfrm>
          <a:off x="1033692" y="433027"/>
          <a:ext cx="6586308" cy="4330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7D5AB59-94E1-0DD5-6F77-94F560EB6E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3056909"/>
              </p:ext>
            </p:extLst>
          </p:nvPr>
        </p:nvGraphicFramePr>
        <p:xfrm>
          <a:off x="3287852" y="2678893"/>
          <a:ext cx="6586308" cy="4330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A4B8BF-076D-EB70-C556-0B55E0736936}"/>
              </a:ext>
            </a:extLst>
          </p:cNvPr>
          <p:cNvCxnSpPr/>
          <p:nvPr/>
        </p:nvCxnSpPr>
        <p:spPr>
          <a:xfrm flipV="1">
            <a:off x="1461247" y="1363087"/>
            <a:ext cx="8821271" cy="45446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C4D0A72-1811-24D9-5120-1EE97FF0F822}"/>
              </a:ext>
            </a:extLst>
          </p:cNvPr>
          <p:cNvSpPr txBox="1"/>
          <p:nvPr/>
        </p:nvSpPr>
        <p:spPr>
          <a:xfrm rot="20017529">
            <a:off x="2006913" y="3492012"/>
            <a:ext cx="5693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students interested in pursuing engineering studies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DD9DD-5145-D042-600B-2E6015AE5F5C}"/>
              </a:ext>
            </a:extLst>
          </p:cNvPr>
          <p:cNvSpPr txBox="1"/>
          <p:nvPr/>
        </p:nvSpPr>
        <p:spPr>
          <a:xfrm rot="19815732">
            <a:off x="5944561" y="5013380"/>
            <a:ext cx="5651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students interested in pursuing all other disciplines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BAB4F-B559-E5A2-8993-E3E34C80A9BD}"/>
              </a:ext>
            </a:extLst>
          </p:cNvPr>
          <p:cNvSpPr txBox="1"/>
          <p:nvPr/>
        </p:nvSpPr>
        <p:spPr>
          <a:xfrm>
            <a:off x="8135532" y="886278"/>
            <a:ext cx="3652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create artificial 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E59211-DCEF-4831-6F00-7FD1295C8C53}"/>
              </a:ext>
            </a:extLst>
          </p:cNvPr>
          <p:cNvSpPr txBox="1"/>
          <p:nvPr/>
        </p:nvSpPr>
        <p:spPr>
          <a:xfrm>
            <a:off x="8246574" y="2456795"/>
            <a:ext cx="3379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use artificial intelligence</a:t>
            </a:r>
          </a:p>
        </p:txBody>
      </p:sp>
      <p:sp>
        <p:nvSpPr>
          <p:cNvPr id="3" name="Explosion 2 2">
            <a:extLst>
              <a:ext uri="{FF2B5EF4-FFF2-40B4-BE49-F238E27FC236}">
                <a16:creationId xmlns:a16="http://schemas.microsoft.com/office/drawing/2014/main" id="{240D497B-AAA8-5F1F-BAF0-74DFF03EBA7B}"/>
              </a:ext>
            </a:extLst>
          </p:cNvPr>
          <p:cNvSpPr/>
          <p:nvPr/>
        </p:nvSpPr>
        <p:spPr>
          <a:xfrm>
            <a:off x="187890" y="4763395"/>
            <a:ext cx="3099962" cy="2376442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Taught in High-schooler’s language</a:t>
            </a:r>
          </a:p>
        </p:txBody>
      </p:sp>
    </p:spTree>
    <p:extLst>
      <p:ext uri="{BB962C8B-B14F-4D97-AF65-F5344CB8AC3E}">
        <p14:creationId xmlns:p14="http://schemas.microsoft.com/office/powerpoint/2010/main" val="334458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E2193-274E-3611-E527-CE9DF1FDA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ight Arrow 19">
            <a:extLst>
              <a:ext uri="{FF2B5EF4-FFF2-40B4-BE49-F238E27FC236}">
                <a16:creationId xmlns:a16="http://schemas.microsoft.com/office/drawing/2014/main" id="{654AF696-E511-8A21-F4AC-739B842C300E}"/>
              </a:ext>
            </a:extLst>
          </p:cNvPr>
          <p:cNvSpPr/>
          <p:nvPr/>
        </p:nvSpPr>
        <p:spPr>
          <a:xfrm>
            <a:off x="648182" y="2500132"/>
            <a:ext cx="11025658" cy="2097187"/>
          </a:xfrm>
          <a:prstGeom prst="rightArrow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6119EC-2037-5D1B-E7B1-B1F9EDBBB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171" y="-88810"/>
            <a:ext cx="11155680" cy="1463040"/>
          </a:xfrm>
        </p:spPr>
        <p:txBody>
          <a:bodyPr/>
          <a:lstStyle/>
          <a:p>
            <a:r>
              <a:rPr lang="en-US" dirty="0"/>
              <a:t>Understanding and building language model applications - Boot Camps</a:t>
            </a:r>
          </a:p>
        </p:txBody>
      </p:sp>
      <p:sp>
        <p:nvSpPr>
          <p:cNvPr id="4" name="Curved Down Arrow 3">
            <a:extLst>
              <a:ext uri="{FF2B5EF4-FFF2-40B4-BE49-F238E27FC236}">
                <a16:creationId xmlns:a16="http://schemas.microsoft.com/office/drawing/2014/main" id="{90E3034E-5DC1-ED48-E15D-BD2A45EE92BC}"/>
              </a:ext>
            </a:extLst>
          </p:cNvPr>
          <p:cNvSpPr/>
          <p:nvPr/>
        </p:nvSpPr>
        <p:spPr>
          <a:xfrm>
            <a:off x="1562581" y="1446836"/>
            <a:ext cx="4071092" cy="1053296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urved Down Arrow 6">
            <a:extLst>
              <a:ext uri="{FF2B5EF4-FFF2-40B4-BE49-F238E27FC236}">
                <a16:creationId xmlns:a16="http://schemas.microsoft.com/office/drawing/2014/main" id="{C8509D8B-2BFF-3B97-5411-3FDFE8E61F0B}"/>
              </a:ext>
            </a:extLst>
          </p:cNvPr>
          <p:cNvSpPr/>
          <p:nvPr/>
        </p:nvSpPr>
        <p:spPr>
          <a:xfrm>
            <a:off x="5891513" y="1446836"/>
            <a:ext cx="3808071" cy="1053296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D17881-6ACC-3B89-9E1F-81C81459EA74}"/>
              </a:ext>
            </a:extLst>
          </p:cNvPr>
          <p:cNvSpPr txBox="1"/>
          <p:nvPr/>
        </p:nvSpPr>
        <p:spPr>
          <a:xfrm>
            <a:off x="1400537" y="2645344"/>
            <a:ext cx="1618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Boot Camp1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DD7FEE-24EC-4216-2E70-958506631A35}"/>
              </a:ext>
            </a:extLst>
          </p:cNvPr>
          <p:cNvSpPr txBox="1"/>
          <p:nvPr/>
        </p:nvSpPr>
        <p:spPr>
          <a:xfrm>
            <a:off x="5191906" y="2645344"/>
            <a:ext cx="1493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Boot Camp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A22C44-2625-FE16-34B0-59E8A0E8B3A6}"/>
              </a:ext>
            </a:extLst>
          </p:cNvPr>
          <p:cNvSpPr txBox="1"/>
          <p:nvPr/>
        </p:nvSpPr>
        <p:spPr>
          <a:xfrm>
            <a:off x="8983275" y="2645344"/>
            <a:ext cx="1493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Boot Camp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46973C-38D3-659C-92DA-B6CA80F6C99D}"/>
              </a:ext>
            </a:extLst>
          </p:cNvPr>
          <p:cNvSpPr txBox="1"/>
          <p:nvPr/>
        </p:nvSpPr>
        <p:spPr>
          <a:xfrm>
            <a:off x="1092696" y="3159888"/>
            <a:ext cx="20251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Learn basics of </a:t>
            </a:r>
          </a:p>
          <a:p>
            <a:r>
              <a:rPr lang="en-US" dirty="0"/>
              <a:t>Neural networks &amp;</a:t>
            </a:r>
          </a:p>
          <a:p>
            <a:r>
              <a:rPr lang="en-US" dirty="0"/>
              <a:t>Language models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2688D3-4835-2C9B-1DB7-D15B5BB316EA}"/>
              </a:ext>
            </a:extLst>
          </p:cNvPr>
          <p:cNvSpPr txBox="1"/>
          <p:nvPr/>
        </p:nvSpPr>
        <p:spPr>
          <a:xfrm>
            <a:off x="4995294" y="3159888"/>
            <a:ext cx="18910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 deeper </a:t>
            </a:r>
          </a:p>
          <a:p>
            <a:r>
              <a:rPr lang="en-US" dirty="0"/>
              <a:t>Understanding of</a:t>
            </a:r>
          </a:p>
          <a:p>
            <a:r>
              <a:rPr lang="en-US" dirty="0"/>
              <a:t>language models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1D573C-C90F-2F95-1165-9675F846F642}"/>
              </a:ext>
            </a:extLst>
          </p:cNvPr>
          <p:cNvSpPr txBox="1"/>
          <p:nvPr/>
        </p:nvSpPr>
        <p:spPr>
          <a:xfrm>
            <a:off x="8568418" y="3159887"/>
            <a:ext cx="2451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Learn advanced topics</a:t>
            </a:r>
          </a:p>
          <a:p>
            <a:r>
              <a:rPr lang="en-US" dirty="0"/>
              <a:t>in language models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B114AA58-A7DC-8D73-1627-E8A7FC44DC9B}"/>
              </a:ext>
            </a:extLst>
          </p:cNvPr>
          <p:cNvSpPr/>
          <p:nvPr/>
        </p:nvSpPr>
        <p:spPr>
          <a:xfrm>
            <a:off x="694482" y="4660666"/>
            <a:ext cx="11025658" cy="215257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DA639E-355F-5590-8DC9-89242C4727A1}"/>
              </a:ext>
            </a:extLst>
          </p:cNvPr>
          <p:cNvSpPr txBox="1"/>
          <p:nvPr/>
        </p:nvSpPr>
        <p:spPr>
          <a:xfrm>
            <a:off x="1092696" y="5384480"/>
            <a:ext cx="29813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 &lt;20-line</a:t>
            </a:r>
          </a:p>
          <a:p>
            <a:r>
              <a:rPr lang="en-US" dirty="0"/>
              <a:t>Basic chatbot</a:t>
            </a:r>
          </a:p>
          <a:p>
            <a:r>
              <a:rPr lang="en-US" dirty="0"/>
              <a:t>Learn How to use AI to code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DF70F7-EF9B-676D-6B96-2170AB71DF14}"/>
              </a:ext>
            </a:extLst>
          </p:cNvPr>
          <p:cNvSpPr txBox="1"/>
          <p:nvPr/>
        </p:nvSpPr>
        <p:spPr>
          <a:xfrm>
            <a:off x="5039878" y="5245980"/>
            <a:ext cx="27796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Learn Vibe Coding</a:t>
            </a:r>
          </a:p>
          <a:p>
            <a:r>
              <a:rPr lang="en-US" dirty="0"/>
              <a:t>Implement advanced </a:t>
            </a:r>
          </a:p>
          <a:p>
            <a:r>
              <a:rPr lang="en-US" dirty="0"/>
              <a:t>Features, Define roadmap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CE0781-3CED-4D7E-BBAF-C871FA77BD02}"/>
              </a:ext>
            </a:extLst>
          </p:cNvPr>
          <p:cNvSpPr txBox="1"/>
          <p:nvPr/>
        </p:nvSpPr>
        <p:spPr>
          <a:xfrm>
            <a:off x="8506319" y="5384479"/>
            <a:ext cx="24209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Implement advanced</a:t>
            </a:r>
          </a:p>
          <a:p>
            <a:r>
              <a:rPr lang="en-US" dirty="0"/>
              <a:t> features via advanced</a:t>
            </a:r>
          </a:p>
          <a:p>
            <a:r>
              <a:rPr lang="en-US" dirty="0"/>
              <a:t>models frameworks </a:t>
            </a:r>
          </a:p>
        </p:txBody>
      </p:sp>
    </p:spTree>
    <p:extLst>
      <p:ext uri="{BB962C8B-B14F-4D97-AF65-F5344CB8AC3E}">
        <p14:creationId xmlns:p14="http://schemas.microsoft.com/office/powerpoint/2010/main" val="3628396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63218-2CE4-3465-8895-56FAC785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sets these classes apart from others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C0AD5-6BC4-E952-9008-62CD92BA6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classes are complementary to any AI classes available online or offline</a:t>
            </a:r>
          </a:p>
          <a:p>
            <a:r>
              <a:rPr lang="en-US" dirty="0"/>
              <a:t>Focus on ‘intuition’ and ‘interpretation’ of mathematics that answer complex questions (not on equations)</a:t>
            </a:r>
          </a:p>
          <a:p>
            <a:pPr lvl="1"/>
            <a:r>
              <a:rPr lang="en-US" dirty="0"/>
              <a:t>Interpret AI  in ’English’ followed by ‘Algebra’ followed by ‘geometry’</a:t>
            </a:r>
          </a:p>
          <a:p>
            <a:pPr lvl="1"/>
            <a:r>
              <a:rPr lang="en-US" dirty="0"/>
              <a:t>Why is the intelligence in weights?</a:t>
            </a:r>
          </a:p>
          <a:p>
            <a:pPr lvl="1"/>
            <a:r>
              <a:rPr lang="en-US" dirty="0"/>
              <a:t>Why does it take so much manual effort to prepare before AI can be applied?</a:t>
            </a:r>
          </a:p>
          <a:p>
            <a:r>
              <a:rPr lang="en-US" dirty="0"/>
              <a:t>Focus on real-world problems (not academic projects)</a:t>
            </a:r>
          </a:p>
          <a:p>
            <a:pPr lvl="1"/>
            <a:r>
              <a:rPr lang="en-US" dirty="0"/>
              <a:t>How do I generate a newsletter using newly updated content on website?</a:t>
            </a:r>
          </a:p>
          <a:p>
            <a:pPr lvl="1"/>
            <a:r>
              <a:rPr lang="en-US" dirty="0"/>
              <a:t>How do I make get AI to generate a newsletter that’s worded like Principal?</a:t>
            </a:r>
          </a:p>
          <a:p>
            <a:pPr lvl="1"/>
            <a:r>
              <a:rPr lang="en-US" dirty="0"/>
              <a:t>How do I generate requirements and plan a project like a professional?</a:t>
            </a:r>
          </a:p>
          <a:p>
            <a:r>
              <a:rPr lang="en-US" dirty="0"/>
              <a:t>Follow industry standard ‘iterate and improve’ approach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163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3526C-35A4-B5A8-125C-89B83DD89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AE5D6-C3DB-3EB7-AAFD-19613FDC9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112264"/>
            <a:ext cx="11155680" cy="3767328"/>
          </a:xfrm>
        </p:spPr>
        <p:txBody>
          <a:bodyPr>
            <a:normAutofit/>
          </a:bodyPr>
          <a:lstStyle/>
          <a:p>
            <a:r>
              <a:rPr lang="en-US" dirty="0"/>
              <a:t>Weekend Boot Camp</a:t>
            </a:r>
          </a:p>
          <a:p>
            <a:pPr lvl="1"/>
            <a:r>
              <a:rPr lang="en-US" dirty="0"/>
              <a:t>Theory and coding (Low-code + AI).</a:t>
            </a:r>
          </a:p>
          <a:p>
            <a:pPr lvl="1"/>
            <a:r>
              <a:rPr lang="en-US" dirty="0"/>
              <a:t>Boot Camp Project </a:t>
            </a:r>
          </a:p>
          <a:p>
            <a:pPr lvl="2"/>
            <a:r>
              <a:rPr lang="en-US" dirty="0"/>
              <a:t>Learn industry standard practices.</a:t>
            </a:r>
          </a:p>
          <a:p>
            <a:pPr lvl="1"/>
            <a:r>
              <a:rPr lang="en-US" dirty="0"/>
              <a:t>Optional project</a:t>
            </a:r>
          </a:p>
          <a:p>
            <a:pPr lvl="2"/>
            <a:r>
              <a:rPr lang="en-US" dirty="0"/>
              <a:t>Supervised by AI experts. (offline with virtual meetings and presentation)</a:t>
            </a:r>
          </a:p>
          <a:p>
            <a:r>
              <a:rPr lang="en-US" dirty="0"/>
              <a:t>Continuous enhancement through future classes</a:t>
            </a:r>
          </a:p>
          <a:p>
            <a:pPr lvl="1"/>
            <a:r>
              <a:rPr lang="en-US" dirty="0"/>
              <a:t>Each course will build on the previous one </a:t>
            </a:r>
          </a:p>
          <a:p>
            <a:pPr lvl="1"/>
            <a:r>
              <a:rPr lang="en-US" dirty="0"/>
              <a:t>Students advance with theory/labs </a:t>
            </a:r>
          </a:p>
          <a:p>
            <a:pPr lvl="1"/>
            <a:r>
              <a:rPr lang="en-US" dirty="0"/>
              <a:t>The problem statement defined in previous class is improved with each iteration</a:t>
            </a:r>
          </a:p>
          <a:p>
            <a:pPr lvl="1"/>
            <a:r>
              <a:rPr lang="en-US" dirty="0"/>
              <a:t>Publications on GitHub for visibility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180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D0411-027B-B29B-F4D9-0C1958864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FC4E9-5CC2-1718-3DA5-63CC052C7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Students with an interest in AI</a:t>
            </a:r>
          </a:p>
          <a:p>
            <a:r>
              <a:rPr lang="en-US" sz="2600" dirty="0"/>
              <a:t>Students with ideas on how to use or build using AI</a:t>
            </a:r>
          </a:p>
          <a:p>
            <a:r>
              <a:rPr lang="en-US" sz="2600" dirty="0"/>
              <a:t>Students wanting to leverage AI for college admission </a:t>
            </a:r>
          </a:p>
          <a:p>
            <a:r>
              <a:rPr lang="en-US" sz="2600" dirty="0"/>
              <a:t>Students with ambitions to approach </a:t>
            </a:r>
            <a:r>
              <a:rPr lang="en-US" sz="2600" dirty="0" err="1"/>
              <a:t>YCombinator</a:t>
            </a:r>
            <a:r>
              <a:rPr lang="en-US" sz="2600" dirty="0"/>
              <a:t> for entrepreneurship</a:t>
            </a:r>
          </a:p>
        </p:txBody>
      </p:sp>
    </p:spTree>
    <p:extLst>
      <p:ext uri="{BB962C8B-B14F-4D97-AF65-F5344CB8AC3E}">
        <p14:creationId xmlns:p14="http://schemas.microsoft.com/office/powerpoint/2010/main" val="139680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A21D8-D20E-C2F0-C6A6-CBA77D42B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77008-43AF-C2EC-6D25-1B047BF96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22049"/>
            <a:ext cx="11155680" cy="460938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Anand Joshi</a:t>
            </a:r>
          </a:p>
          <a:p>
            <a:pPr lvl="1"/>
            <a:r>
              <a:rPr lang="en-US" dirty="0"/>
              <a:t>Recognized expert in AI, keynote speaker in AI conferences, market analyst, chip company executive</a:t>
            </a:r>
          </a:p>
          <a:p>
            <a:pPr lvl="1"/>
            <a:r>
              <a:rPr lang="en-US" dirty="0"/>
              <a:t>http://</a:t>
            </a:r>
            <a:r>
              <a:rPr lang="en-US" dirty="0" err="1"/>
              <a:t>www.linkedin.com</a:t>
            </a:r>
            <a:r>
              <a:rPr lang="en-US" dirty="0"/>
              <a:t>/in/anandjoshi1</a:t>
            </a:r>
          </a:p>
          <a:p>
            <a:r>
              <a:rPr lang="en-US" dirty="0"/>
              <a:t>Abhinandan Aneja</a:t>
            </a:r>
          </a:p>
          <a:p>
            <a:pPr lvl="1"/>
            <a:r>
              <a:rPr lang="en-US" dirty="0"/>
              <a:t>Owner Violet Purple</a:t>
            </a:r>
          </a:p>
          <a:p>
            <a:pPr lvl="1"/>
            <a:r>
              <a:rPr lang="en-US" dirty="0"/>
              <a:t>20+ years of high-tech experience</a:t>
            </a:r>
          </a:p>
          <a:p>
            <a:r>
              <a:rPr lang="en-US" dirty="0" err="1"/>
              <a:t>Krishula</a:t>
            </a:r>
            <a:r>
              <a:rPr lang="en-US" dirty="0"/>
              <a:t> Sinha </a:t>
            </a:r>
          </a:p>
          <a:p>
            <a:pPr lvl="1"/>
            <a:r>
              <a:rPr lang="en-US" dirty="0"/>
              <a:t>8+ years of experience, Expert in data pipelines</a:t>
            </a:r>
          </a:p>
          <a:p>
            <a:pPr lvl="1"/>
            <a:r>
              <a:rPr lang="en-US" dirty="0"/>
              <a:t>http://</a:t>
            </a:r>
            <a:r>
              <a:rPr lang="en-US" dirty="0" err="1"/>
              <a:t>www.linkedin.com</a:t>
            </a:r>
            <a:r>
              <a:rPr lang="en-US" dirty="0"/>
              <a:t>/in/</a:t>
            </a:r>
            <a:r>
              <a:rPr lang="en-US" dirty="0" err="1"/>
              <a:t>krishulasinha</a:t>
            </a:r>
            <a:endParaRPr lang="en-US" dirty="0"/>
          </a:p>
          <a:p>
            <a:r>
              <a:rPr lang="en-US" dirty="0"/>
              <a:t>Academic Advisors</a:t>
            </a:r>
          </a:p>
          <a:p>
            <a:pPr lvl="1"/>
            <a:r>
              <a:rPr lang="en-US" dirty="0"/>
              <a:t>Jin Kim, Ex CMU Faculty</a:t>
            </a:r>
          </a:p>
          <a:p>
            <a:pPr lvl="1"/>
            <a:r>
              <a:rPr lang="en-US" dirty="0"/>
              <a:t>Aakash Patil, Post-doc Stanford</a:t>
            </a:r>
          </a:p>
          <a:p>
            <a:r>
              <a:rPr lang="en-US" dirty="0"/>
              <a:t>Industry guest speakers</a:t>
            </a:r>
          </a:p>
          <a:p>
            <a:pPr lvl="1"/>
            <a:r>
              <a:rPr lang="en-US" dirty="0"/>
              <a:t>Atul Kulkarni, Manager Rufus, Amazon</a:t>
            </a:r>
          </a:p>
          <a:p>
            <a:pPr lvl="1"/>
            <a:r>
              <a:rPr lang="en-US" dirty="0"/>
              <a:t>Tripti Kamath, VP Data Science, J&amp;J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925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63B22-AE28-BB81-A248-C65075050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233FB-16DD-E4BF-CEA4-4730445E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B7166-8F21-2008-FD47-E7979EFC3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800" dirty="0"/>
              <a:t>11</a:t>
            </a:r>
            <a:r>
              <a:rPr lang="en-US" sz="2800" baseline="30000" dirty="0"/>
              <a:t>th</a:t>
            </a:r>
            <a:r>
              <a:rPr lang="en-US" sz="2800" dirty="0"/>
              <a:t> grade onwards (preferred)</a:t>
            </a:r>
          </a:p>
          <a:p>
            <a:r>
              <a:rPr lang="en-US" sz="2800" dirty="0"/>
              <a:t>Understanding of linear algebra</a:t>
            </a:r>
          </a:p>
          <a:p>
            <a:r>
              <a:rPr lang="en-US" sz="2800" dirty="0"/>
              <a:t>Basic coding skills</a:t>
            </a:r>
          </a:p>
          <a:p>
            <a:pPr lvl="1"/>
            <a:r>
              <a:rPr lang="en-US" sz="2600" dirty="0"/>
              <a:t>Python</a:t>
            </a:r>
          </a:p>
          <a:p>
            <a:r>
              <a:rPr lang="en-US" sz="2600" dirty="0"/>
              <a:t>Basic programming and debugging skills</a:t>
            </a:r>
          </a:p>
          <a:p>
            <a:pPr lvl="1"/>
            <a:r>
              <a:rPr lang="en-US" sz="2400" dirty="0"/>
              <a:t>Syntactical and logical error fix</a:t>
            </a:r>
          </a:p>
          <a:p>
            <a:r>
              <a:rPr lang="en-US" sz="2600" dirty="0"/>
              <a:t>Desire to build apps using AI to code</a:t>
            </a:r>
          </a:p>
          <a:p>
            <a:r>
              <a:rPr lang="en-US" sz="2600" dirty="0"/>
              <a:t>Accounts Needed:</a:t>
            </a:r>
          </a:p>
          <a:p>
            <a:pPr lvl="1"/>
            <a:r>
              <a:rPr lang="en-US" sz="2400" dirty="0"/>
              <a:t>Google </a:t>
            </a:r>
            <a:r>
              <a:rPr lang="en-US" sz="2400" dirty="0" err="1"/>
              <a:t>Colab</a:t>
            </a:r>
            <a:r>
              <a:rPr lang="en-US" sz="2400" dirty="0"/>
              <a:t> (To run </a:t>
            </a:r>
            <a:r>
              <a:rPr lang="en-US" sz="2400" dirty="0" err="1"/>
              <a:t>Jupyter</a:t>
            </a:r>
            <a:r>
              <a:rPr lang="en-US" sz="2400" dirty="0"/>
              <a:t> notebooks)</a:t>
            </a:r>
          </a:p>
          <a:p>
            <a:pPr lvl="1"/>
            <a:r>
              <a:rPr lang="en-US" sz="2400" dirty="0" err="1"/>
              <a:t>Github</a:t>
            </a:r>
            <a:r>
              <a:rPr lang="en-US" sz="2400" dirty="0"/>
              <a:t> (For storing the code/project)</a:t>
            </a:r>
          </a:p>
          <a:p>
            <a:pPr lvl="1"/>
            <a:r>
              <a:rPr lang="en-US" sz="2400" dirty="0"/>
              <a:t>Cursor (Paid - $20 for a month – not needed for class 1)</a:t>
            </a:r>
          </a:p>
          <a:p>
            <a:pPr lvl="1"/>
            <a:r>
              <a:rPr lang="en-US" sz="2400" dirty="0"/>
              <a:t>Cloudflare (For publishing the project – free)</a:t>
            </a:r>
          </a:p>
          <a:p>
            <a:pPr lvl="1"/>
            <a:r>
              <a:rPr lang="en-US" sz="2400" dirty="0" err="1"/>
              <a:t>Huggingface</a:t>
            </a:r>
            <a:r>
              <a:rPr lang="en-US" sz="2400" dirty="0"/>
              <a:t> (For AI models)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620849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7BC9-90A6-9A78-DF1B-8DF46D868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599E5-350F-B983-689A-7C75A0550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Bootcamp 1 - Understanding and building language model applications</a:t>
            </a:r>
          </a:p>
          <a:p>
            <a:pPr lvl="1"/>
            <a:r>
              <a:rPr lang="en-US" dirty="0"/>
              <a:t>March 8, 10 AM – 4 PM</a:t>
            </a:r>
          </a:p>
          <a:p>
            <a:r>
              <a:rPr lang="en-US" dirty="0"/>
              <a:t>Bootcamp 2 – Using Vibe coding to build advanced language model applications</a:t>
            </a:r>
          </a:p>
          <a:p>
            <a:pPr lvl="1"/>
            <a:r>
              <a:rPr lang="en-US" dirty="0"/>
              <a:t>April TBD , 10 AM – 4 PM</a:t>
            </a:r>
          </a:p>
          <a:p>
            <a:r>
              <a:rPr lang="en-US" dirty="0"/>
              <a:t>Bootcamp 3 – Advanced topics in language models and applications</a:t>
            </a:r>
          </a:p>
          <a:p>
            <a:pPr lvl="1"/>
            <a:r>
              <a:rPr lang="en-US"/>
              <a:t>May TBD, 1</a:t>
            </a:r>
            <a:r>
              <a:rPr lang="en-US" dirty="0"/>
              <a:t>0</a:t>
            </a:r>
            <a:r>
              <a:rPr lang="en-US"/>
              <a:t> </a:t>
            </a:r>
            <a:r>
              <a:rPr lang="en-US" dirty="0"/>
              <a:t>AM </a:t>
            </a:r>
            <a:r>
              <a:rPr lang="en-US"/>
              <a:t>– 4 </a:t>
            </a:r>
            <a:r>
              <a:rPr lang="en-US" dirty="0"/>
              <a:t>PM</a:t>
            </a:r>
          </a:p>
          <a:p>
            <a:r>
              <a:rPr lang="en-US" dirty="0"/>
              <a:t>All classes will be held at:</a:t>
            </a:r>
          </a:p>
          <a:p>
            <a:pPr lvl="1"/>
            <a:r>
              <a:rPr lang="en-US" dirty="0"/>
              <a:t>6335 Jarvis Ave, Newark, CA 94560, United States</a:t>
            </a:r>
          </a:p>
          <a:p>
            <a:r>
              <a:rPr lang="en-US" dirty="0"/>
              <a:t>Fees: $300/bootcamp</a:t>
            </a:r>
          </a:p>
        </p:txBody>
      </p:sp>
    </p:spTree>
    <p:extLst>
      <p:ext uri="{BB962C8B-B14F-4D97-AF65-F5344CB8AC3E}">
        <p14:creationId xmlns:p14="http://schemas.microsoft.com/office/powerpoint/2010/main" val="27935401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37414</TotalTime>
  <Words>770</Words>
  <Application>Microsoft Macintosh PowerPoint</Application>
  <PresentationFormat>Widescreen</PresentationFormat>
  <Paragraphs>128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Bierstadt</vt:lpstr>
      <vt:lpstr>GestaltVTI</vt:lpstr>
      <vt:lpstr>The AI High – School of innovation</vt:lpstr>
      <vt:lpstr>Our Vision</vt:lpstr>
      <vt:lpstr>In the future (when high-schoolers graduate)….</vt:lpstr>
      <vt:lpstr>General philosophy </vt:lpstr>
      <vt:lpstr>Understanding and building language model applications - Boot Camps</vt:lpstr>
      <vt:lpstr>What sets these classes apart from others</vt:lpstr>
      <vt:lpstr>Course Plan</vt:lpstr>
      <vt:lpstr>Expectations</vt:lpstr>
      <vt:lpstr>Instructors</vt:lpstr>
      <vt:lpstr>Pre-requisites</vt:lpstr>
      <vt:lpstr>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Joshi</dc:creator>
  <cp:lastModifiedBy>Anand Joshi</cp:lastModifiedBy>
  <cp:revision>59</cp:revision>
  <dcterms:created xsi:type="dcterms:W3CDTF">2025-08-22T23:55:51Z</dcterms:created>
  <dcterms:modified xsi:type="dcterms:W3CDTF">2026-02-18T02:45:31Z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fbee0dc-6f33-415c-b76b-0932324fc5a5_Enabled">
    <vt:lpwstr>true</vt:lpwstr>
  </property>
  <property fmtid="{D5CDD505-2E9C-101B-9397-08002B2CF9AE}" pid="3" name="MSIP_Label_dfbee0dc-6f33-415c-b76b-0932324fc5a5_SetDate">
    <vt:lpwstr>2025-08-22T23:57:26Z</vt:lpwstr>
  </property>
  <property fmtid="{D5CDD505-2E9C-101B-9397-08002B2CF9AE}" pid="4" name="MSIP_Label_dfbee0dc-6f33-415c-b76b-0932324fc5a5_Method">
    <vt:lpwstr>Standard</vt:lpwstr>
  </property>
  <property fmtid="{D5CDD505-2E9C-101B-9397-08002B2CF9AE}" pid="5" name="MSIP_Label_dfbee0dc-6f33-415c-b76b-0932324fc5a5_Name">
    <vt:lpwstr>defa4170-0d19-0005-0004-bc88714345d2</vt:lpwstr>
  </property>
  <property fmtid="{D5CDD505-2E9C-101B-9397-08002B2CF9AE}" pid="6" name="MSIP_Label_dfbee0dc-6f33-415c-b76b-0932324fc5a5_SiteId">
    <vt:lpwstr>31ef0b60-afc5-4125-80a5-2b4ee289e2d7</vt:lpwstr>
  </property>
  <property fmtid="{D5CDD505-2E9C-101B-9397-08002B2CF9AE}" pid="7" name="MSIP_Label_dfbee0dc-6f33-415c-b76b-0932324fc5a5_ActionId">
    <vt:lpwstr>0e9acb47-9517-460c-b674-e04b1e1c2c04</vt:lpwstr>
  </property>
  <property fmtid="{D5CDD505-2E9C-101B-9397-08002B2CF9AE}" pid="8" name="MSIP_Label_dfbee0dc-6f33-415c-b76b-0932324fc5a5_ContentBits">
    <vt:lpwstr>0</vt:lpwstr>
  </property>
  <property fmtid="{D5CDD505-2E9C-101B-9397-08002B2CF9AE}" pid="9" name="MSIP_Label_dfbee0dc-6f33-415c-b76b-0932324fc5a5_Tag">
    <vt:lpwstr>50, 3, 0, 1</vt:lpwstr>
  </property>
</Properties>
</file>